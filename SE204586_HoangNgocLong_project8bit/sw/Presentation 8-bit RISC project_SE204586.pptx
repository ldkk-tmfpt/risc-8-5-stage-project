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67" r:id="rId2"/>
    <p:sldId id="259" r:id="rId3"/>
    <p:sldId id="263" r:id="rId4"/>
    <p:sldId id="271" r:id="rId5"/>
    <p:sldId id="268" r:id="rId6"/>
    <p:sldId id="269" r:id="rId7"/>
    <p:sldId id="270" r:id="rId8"/>
    <p:sldId id="262" r:id="rId9"/>
    <p:sldId id="264" r:id="rId10"/>
  </p:sldIdLst>
  <p:sldSz cx="12192000" cy="6858000"/>
  <p:notesSz cx="6858000" cy="9144000"/>
  <p:embeddedFontLst>
    <p:embeddedFont>
      <p:font typeface="Inter" panose="020B0604020202020204" charset="0"/>
      <p:regular r:id="rId12"/>
      <p:bold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F2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324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C133AA-1EB8-46F2-861B-B798A19A715D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058FDB-99DA-4832-BCFE-EC71BA527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445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1559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085768df-e795-4956-8543-e11ac8470514-0::bg-accent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2286000"/>
            <a:ext cx="7315200" cy="7315200"/>
          </a:xfrm>
          <a:prstGeom prst="rect">
            <a:avLst/>
          </a:prstGeom>
        </p:spPr>
      </p:pic>
      <p:sp>
        <p:nvSpPr>
          <p:cNvPr id="3" name="b698597e-ab22-46fe-bceb-ac1405dc2c30"/>
          <p:cNvSpPr/>
          <p:nvPr/>
        </p:nvSpPr>
        <p:spPr>
          <a:xfrm>
            <a:off x="1390650" y="578264"/>
            <a:ext cx="889031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ea typeface="Lexend"/>
                <a:cs typeface="Lexend" pitchFamily="34" charset="-120"/>
              </a:rPr>
              <a:t>8-bit RISC 5-STAGE PROCESSOR ARCHITECTURE</a:t>
            </a:r>
            <a:endParaRPr lang="en-US" sz="3600" dirty="0">
              <a:ea typeface="Lexend"/>
            </a:endParaRPr>
          </a:p>
        </p:txBody>
      </p:sp>
      <p:grpSp>
        <p:nvGrpSpPr>
          <p:cNvPr id="45" name="group-RlQ3E_ln06byU202uXto7"/>
          <p:cNvGrpSpPr/>
          <p:nvPr/>
        </p:nvGrpSpPr>
        <p:grpSpPr>
          <a:xfrm>
            <a:off x="457200" y="1885950"/>
            <a:ext cx="4524375" cy="3009900"/>
            <a:chOff x="457200" y="1885950"/>
            <a:chExt cx="4524375" cy="3009900"/>
          </a:xfrm>
          <a:solidFill>
            <a:srgbClr val="EDF2F9"/>
          </a:solidFill>
        </p:grpSpPr>
        <p:sp>
          <p:nvSpPr>
            <p:cNvPr id="5" name="slide-085768df-e795-4956-8543-e11ac8470514-0::project-info"/>
            <p:cNvSpPr/>
            <p:nvPr/>
          </p:nvSpPr>
          <p:spPr>
            <a:xfrm>
              <a:off x="457200" y="1885950"/>
              <a:ext cx="4524375" cy="3009900"/>
            </a:xfrm>
            <a:prstGeom prst="roundRect">
              <a:avLst>
                <a:gd name="adj" fmla="val 5063"/>
              </a:avLst>
            </a:prstGeom>
            <a:grpFill/>
            <a:ln w="19050">
              <a:solidFill>
                <a:srgbClr val="E7E8FF"/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dirty="0">
                <a:ea typeface="Lexend"/>
              </a:endParaRPr>
            </a:p>
          </p:txBody>
        </p:sp>
        <p:pic>
          <p:nvPicPr>
            <p:cNvPr id="37" name="d79e45e5-a060-47f6-a2fe-d62775004c0c" descr="d79e45e5-a060-47f6-a2fe-d62775004c0c"/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781050" y="2209800"/>
              <a:ext cx="457200" cy="457200"/>
            </a:xfrm>
            <a:prstGeom prst="rect">
              <a:avLst/>
            </a:prstGeom>
            <a:grpFill/>
          </p:spPr>
        </p:pic>
        <p:sp>
          <p:nvSpPr>
            <p:cNvPr id="38" name="8acc4011-5c97-4bd7-81de-2fec7bf0a0b0"/>
            <p:cNvSpPr/>
            <p:nvPr/>
          </p:nvSpPr>
          <p:spPr>
            <a:xfrm>
              <a:off x="1390650" y="2286000"/>
              <a:ext cx="2057775" cy="304800"/>
            </a:xfrm>
            <a:prstGeom prst="rect">
              <a:avLst/>
            </a:prstGeom>
            <a:grp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000000"/>
                  </a:solidFill>
                  <a:ea typeface="Lexend"/>
                  <a:cs typeface="Lexend" pitchFamily="34" charset="-120"/>
                </a:rPr>
                <a:t>Project Overview</a:t>
              </a:r>
              <a:endParaRPr lang="en-US" sz="1800" dirty="0">
                <a:ea typeface="Lexend"/>
              </a:endParaRPr>
            </a:p>
          </p:txBody>
        </p:sp>
        <p:sp>
          <p:nvSpPr>
            <p:cNvPr id="39" name="5ce1ec87-6c0c-4be3-b744-13d0a02fe7ca"/>
            <p:cNvSpPr/>
            <p:nvPr/>
          </p:nvSpPr>
          <p:spPr>
            <a:xfrm>
              <a:off x="781050" y="2895600"/>
              <a:ext cx="3914775" cy="190500"/>
            </a:xfrm>
            <a:prstGeom prst="rect">
              <a:avLst/>
            </a:prstGeom>
            <a:grp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050" kern="0" spc="50" dirty="0">
                  <a:solidFill>
                    <a:srgbClr val="000000">
                      <a:alpha val="50000"/>
                    </a:srgbClr>
                  </a:solidFill>
                  <a:ea typeface="Lexend"/>
                  <a:cs typeface="Lexend" pitchFamily="34" charset="-120"/>
                </a:rPr>
                <a:t>PROJECT NAME</a:t>
              </a:r>
              <a:endParaRPr lang="en-US" sz="1050" dirty="0">
                <a:ea typeface="Lexend"/>
              </a:endParaRPr>
            </a:p>
          </p:txBody>
        </p:sp>
        <p:sp>
          <p:nvSpPr>
            <p:cNvPr id="40" name="ba6672ce-3fac-4f3a-832c-8d810a4da0e1"/>
            <p:cNvSpPr/>
            <p:nvPr/>
          </p:nvSpPr>
          <p:spPr>
            <a:xfrm>
              <a:off x="781050" y="3114675"/>
              <a:ext cx="2987610" cy="209550"/>
            </a:xfrm>
            <a:prstGeom prst="rect">
              <a:avLst/>
            </a:prstGeom>
            <a:grp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100"/>
                </a:lnSpc>
                <a:buNone/>
              </a:pPr>
              <a:r>
                <a:rPr lang="en-US" sz="1500" dirty="0">
                  <a:solidFill>
                    <a:srgbClr val="000000"/>
                  </a:solidFill>
                  <a:ea typeface="Lexend"/>
                  <a:cs typeface="Lexend" pitchFamily="34" charset="-120"/>
                </a:rPr>
                <a:t>RISC-8 5-Stages Pipeline Processor</a:t>
              </a:r>
              <a:endParaRPr lang="en-US" sz="1500" dirty="0">
                <a:ea typeface="Lexend"/>
              </a:endParaRPr>
            </a:p>
          </p:txBody>
        </p:sp>
        <p:sp>
          <p:nvSpPr>
            <p:cNvPr id="41" name="b01b4b5d-3f58-4520-98ef-a1322d22f790"/>
            <p:cNvSpPr/>
            <p:nvPr/>
          </p:nvSpPr>
          <p:spPr>
            <a:xfrm>
              <a:off x="781050" y="3505200"/>
              <a:ext cx="3914775" cy="190500"/>
            </a:xfrm>
            <a:prstGeom prst="rect">
              <a:avLst/>
            </a:prstGeom>
            <a:grp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050" kern="0" spc="50" dirty="0">
                  <a:solidFill>
                    <a:srgbClr val="000000">
                      <a:alpha val="50000"/>
                    </a:srgbClr>
                  </a:solidFill>
                  <a:ea typeface="Lexend"/>
                  <a:cs typeface="Lexend" pitchFamily="34" charset="-120"/>
                </a:rPr>
                <a:t>STUDENT NAME</a:t>
              </a:r>
              <a:endParaRPr lang="en-US" sz="1050" dirty="0">
                <a:ea typeface="Lexend"/>
              </a:endParaRPr>
            </a:p>
          </p:txBody>
        </p:sp>
        <p:sp>
          <p:nvSpPr>
            <p:cNvPr id="42" name="94b9ee05-935e-4646-b25f-521d927681dc"/>
            <p:cNvSpPr/>
            <p:nvPr/>
          </p:nvSpPr>
          <p:spPr>
            <a:xfrm>
              <a:off x="781050" y="3724275"/>
              <a:ext cx="1277682" cy="209550"/>
            </a:xfrm>
            <a:prstGeom prst="rect">
              <a:avLst/>
            </a:prstGeom>
            <a:grp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100"/>
                </a:lnSpc>
                <a:buNone/>
              </a:pPr>
              <a:r>
                <a:rPr lang="en-US" sz="1500" dirty="0">
                  <a:solidFill>
                    <a:srgbClr val="000000"/>
                  </a:solidFill>
                  <a:ea typeface="Lexend"/>
                  <a:cs typeface="Lexend" pitchFamily="34" charset="-120"/>
                </a:rPr>
                <a:t>[HOÀNG NGỌC LONG]</a:t>
              </a:r>
              <a:endParaRPr lang="en-US" sz="1500" dirty="0">
                <a:ea typeface="Lexend"/>
              </a:endParaRPr>
            </a:p>
          </p:txBody>
        </p:sp>
        <p:sp>
          <p:nvSpPr>
            <p:cNvPr id="43" name="7a88053d-e336-4094-95ac-b6312a09f9e3"/>
            <p:cNvSpPr/>
            <p:nvPr/>
          </p:nvSpPr>
          <p:spPr>
            <a:xfrm>
              <a:off x="781050" y="4114800"/>
              <a:ext cx="3914775" cy="190500"/>
            </a:xfrm>
            <a:prstGeom prst="rect">
              <a:avLst/>
            </a:prstGeom>
            <a:grp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050" kern="0" spc="50" dirty="0">
                  <a:solidFill>
                    <a:srgbClr val="000000">
                      <a:alpha val="50000"/>
                    </a:srgbClr>
                  </a:solidFill>
                  <a:ea typeface="Lexend"/>
                  <a:cs typeface="Lexend" pitchFamily="34" charset="-120"/>
                </a:rPr>
                <a:t>STUDENT ID</a:t>
              </a:r>
              <a:endParaRPr lang="en-US" sz="1050" dirty="0">
                <a:ea typeface="Lexend"/>
              </a:endParaRPr>
            </a:p>
          </p:txBody>
        </p:sp>
        <p:sp>
          <p:nvSpPr>
            <p:cNvPr id="44" name="2af4d072-97dd-4d1b-bfd5-1bac1dfc93c5"/>
            <p:cNvSpPr/>
            <p:nvPr/>
          </p:nvSpPr>
          <p:spPr>
            <a:xfrm>
              <a:off x="781050" y="4333875"/>
              <a:ext cx="1744979" cy="209550"/>
            </a:xfrm>
            <a:prstGeom prst="rect">
              <a:avLst/>
            </a:prstGeom>
            <a:grp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100"/>
                </a:lnSpc>
                <a:buNone/>
              </a:pPr>
              <a:r>
                <a:rPr lang="en-US" sz="1500" dirty="0">
                  <a:solidFill>
                    <a:srgbClr val="000000"/>
                  </a:solidFill>
                  <a:ea typeface="Lexend"/>
                  <a:cs typeface="Lexend" pitchFamily="34" charset="-120"/>
                </a:rPr>
                <a:t>[SE204586]</a:t>
              </a:r>
              <a:endParaRPr lang="en-US" sz="1500" dirty="0">
                <a:ea typeface="Lexend"/>
              </a:endParaRPr>
            </a:p>
          </p:txBody>
        </p:sp>
      </p:grpSp>
      <p:grpSp>
        <p:nvGrpSpPr>
          <p:cNvPr id="46" name="group-ZuXT2-WVbcvgaslO0q3HZ"/>
          <p:cNvGrpSpPr/>
          <p:nvPr/>
        </p:nvGrpSpPr>
        <p:grpSpPr>
          <a:xfrm>
            <a:off x="457200" y="5124450"/>
            <a:ext cx="4524375" cy="952500"/>
            <a:chOff x="457200" y="5124450"/>
            <a:chExt cx="4524375" cy="952500"/>
          </a:xfrm>
          <a:solidFill>
            <a:schemeClr val="tx2">
              <a:lumMod val="20000"/>
              <a:lumOff val="80000"/>
            </a:schemeClr>
          </a:solidFill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grpSpPr>
        <p:sp>
          <p:nvSpPr>
            <p:cNvPr id="6" name="22c0267f-0d16-471f-b4bc-ab5f4f718e42"/>
            <p:cNvSpPr/>
            <p:nvPr/>
          </p:nvSpPr>
          <p:spPr>
            <a:xfrm>
              <a:off x="457200" y="5124450"/>
              <a:ext cx="4524375" cy="952500"/>
            </a:xfrm>
            <a:prstGeom prst="roundRect">
              <a:avLst>
                <a:gd name="adj" fmla="val 16000"/>
              </a:avLst>
            </a:prstGeom>
            <a:grp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dirty="0">
                <a:ea typeface="Lexend"/>
              </a:endParaRPr>
            </a:p>
          </p:txBody>
        </p:sp>
        <p:sp>
          <p:nvSpPr>
            <p:cNvPr id="8" name="00239e76-2eb6-407b-8b34-5652f1eb1c81"/>
            <p:cNvSpPr/>
            <p:nvPr/>
          </p:nvSpPr>
          <p:spPr>
            <a:xfrm>
              <a:off x="685800" y="5353050"/>
              <a:ext cx="4105275" cy="190500"/>
            </a:xfrm>
            <a:prstGeom prst="rect">
              <a:avLst/>
            </a:prstGeom>
            <a:grp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050" b="1" kern="0" spc="110" dirty="0">
                  <a:solidFill>
                    <a:srgbClr val="000000"/>
                  </a:solidFill>
                  <a:ea typeface="Lexend"/>
                  <a:cs typeface="Lexend" pitchFamily="34" charset="-120"/>
                </a:rPr>
                <a:t>STATUS</a:t>
              </a:r>
              <a:endParaRPr lang="en-US" sz="1050" dirty="0">
                <a:ea typeface="Lexend"/>
              </a:endParaRPr>
            </a:p>
          </p:txBody>
        </p:sp>
        <p:sp>
          <p:nvSpPr>
            <p:cNvPr id="9" name="51f65889-711a-4ba0-a232-29c085274f09"/>
            <p:cNvSpPr/>
            <p:nvPr/>
          </p:nvSpPr>
          <p:spPr>
            <a:xfrm>
              <a:off x="685800" y="5581650"/>
              <a:ext cx="4105275" cy="266700"/>
            </a:xfrm>
            <a:prstGeom prst="rect">
              <a:avLst/>
            </a:prstGeom>
            <a:grp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350" dirty="0">
                  <a:solidFill>
                    <a:srgbClr val="000000"/>
                  </a:solidFill>
                  <a:ea typeface="Lexend"/>
                  <a:cs typeface="Lexend" pitchFamily="34" charset="-120"/>
                </a:rPr>
                <a:t>Design &amp; Simulation Phase Complete</a:t>
              </a:r>
              <a:endParaRPr lang="en-US" sz="1350" dirty="0">
                <a:ea typeface="Lexend"/>
              </a:endParaRPr>
            </a:p>
          </p:txBody>
        </p:sp>
      </p:grpSp>
      <p:sp>
        <p:nvSpPr>
          <p:cNvPr id="7" name="slide-085768df-e795-4956-8543-e11ac8470514-0::roadmap-container"/>
          <p:cNvSpPr/>
          <p:nvPr/>
        </p:nvSpPr>
        <p:spPr>
          <a:xfrm>
            <a:off x="5276850" y="1562100"/>
            <a:ext cx="6457950" cy="4838700"/>
          </a:xfrm>
          <a:prstGeom prst="roundRect">
            <a:avLst>
              <a:gd name="adj" fmla="val 3150"/>
            </a:avLst>
          </a:prstGeom>
          <a:solidFill>
            <a:srgbClr val="EDF2F9"/>
          </a:solidFill>
          <a:ln/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>
              <a:ea typeface="Lexend"/>
            </a:endParaRPr>
          </a:p>
        </p:txBody>
      </p:sp>
      <p:pic>
        <p:nvPicPr>
          <p:cNvPr id="10" name="1b4d44bf-6113-4764-94a0-aa8acbad3efc" descr="1b4d44bf-6113-4764-94a0-aa8acbad3efc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581650" y="1885950"/>
            <a:ext cx="228600" cy="228600"/>
          </a:xfrm>
          <a:prstGeom prst="rect">
            <a:avLst/>
          </a:prstGeom>
        </p:spPr>
      </p:pic>
      <p:sp>
        <p:nvSpPr>
          <p:cNvPr id="11" name="84b9c0b6-b5d1-4d86-ba97-fc790a7d50d4"/>
          <p:cNvSpPr/>
          <p:nvPr/>
        </p:nvSpPr>
        <p:spPr>
          <a:xfrm>
            <a:off x="5886450" y="1895475"/>
            <a:ext cx="24384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ea typeface="Lexend"/>
                <a:cs typeface="Lexend" pitchFamily="34" charset="-120"/>
              </a:rPr>
              <a:t>Presentation Roadmap</a:t>
            </a:r>
            <a:endParaRPr lang="en-US" sz="1500" dirty="0">
              <a:ea typeface="Lexend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5862297" y="2362200"/>
            <a:ext cx="0" cy="3619500"/>
          </a:xfrm>
          <a:prstGeom prst="line">
            <a:avLst/>
          </a:prstGeom>
          <a:noFill/>
          <a:ln w="19050">
            <a:solidFill>
              <a:schemeClr val="tx2">
                <a:lumMod val="40000"/>
                <a:lumOff val="60000"/>
                <a:alpha val="45000"/>
              </a:schemeClr>
            </a:solidFill>
            <a:prstDash val="solid"/>
          </a:ln>
        </p:spPr>
        <p:txBody>
          <a:bodyPr/>
          <a:lstStyle/>
          <a:p>
            <a:endParaRPr lang="en-US">
              <a:ea typeface="Lexend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5862297" y="2743200"/>
            <a:ext cx="347322" cy="0"/>
          </a:xfrm>
          <a:prstGeom prst="line">
            <a:avLst/>
          </a:prstGeom>
          <a:noFill/>
          <a:ln w="19050">
            <a:solidFill>
              <a:srgbClr val="858E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>
              <a:ea typeface="Lexend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5667375" y="2548278"/>
            <a:ext cx="389845" cy="389845"/>
          </a:xfrm>
          <a:prstGeom prst="ellipse">
            <a:avLst/>
          </a:prstGeom>
          <a:solidFill>
            <a:srgbClr val="FAFAFA"/>
          </a:solidFill>
          <a:ln w="12700">
            <a:solidFill>
              <a:srgbClr val="FAFA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ea typeface="Lexend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5724525" y="2605428"/>
            <a:ext cx="275545" cy="275545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rgbClr val="858E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ea typeface="Lexend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6209620" y="2641187"/>
            <a:ext cx="515370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600" b="1" dirty="0">
                <a:solidFill>
                  <a:srgbClr val="0F172A"/>
                </a:solidFill>
                <a:latin typeface="Inter"/>
                <a:ea typeface="Lexend"/>
              </a:rPr>
              <a:t>Architectural Datapath Overview</a:t>
            </a:r>
          </a:p>
        </p:txBody>
      </p:sp>
      <p:sp>
        <p:nvSpPr>
          <p:cNvPr id="19" name="Shape 15"/>
          <p:cNvSpPr/>
          <p:nvPr/>
        </p:nvSpPr>
        <p:spPr>
          <a:xfrm>
            <a:off x="5862297" y="3695700"/>
            <a:ext cx="347322" cy="0"/>
          </a:xfrm>
          <a:prstGeom prst="line">
            <a:avLst/>
          </a:prstGeom>
          <a:noFill/>
          <a:ln w="19050">
            <a:solidFill>
              <a:srgbClr val="858E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>
              <a:ea typeface="Lexend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5667375" y="3500778"/>
            <a:ext cx="389845" cy="389845"/>
          </a:xfrm>
          <a:prstGeom prst="ellipse">
            <a:avLst/>
          </a:prstGeom>
          <a:solidFill>
            <a:srgbClr val="FAFAFA"/>
          </a:solidFill>
          <a:ln w="12700">
            <a:solidFill>
              <a:srgbClr val="FAFA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ea typeface="Lexend"/>
            </a:endParaRPr>
          </a:p>
        </p:txBody>
      </p:sp>
      <p:sp>
        <p:nvSpPr>
          <p:cNvPr id="21" name="Shape 17"/>
          <p:cNvSpPr/>
          <p:nvPr/>
        </p:nvSpPr>
        <p:spPr>
          <a:xfrm>
            <a:off x="5724525" y="3557928"/>
            <a:ext cx="275545" cy="275545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rgbClr val="858E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ea typeface="Lexend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6209620" y="3593687"/>
            <a:ext cx="515370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600" b="1" dirty="0">
                <a:solidFill>
                  <a:srgbClr val="0F172A"/>
                </a:solidFill>
                <a:latin typeface="Inter"/>
                <a:ea typeface="Lexend"/>
              </a:rPr>
              <a:t>RTL Schematic Optimization</a:t>
            </a:r>
          </a:p>
        </p:txBody>
      </p:sp>
      <p:sp>
        <p:nvSpPr>
          <p:cNvPr id="25" name="Shape 21"/>
          <p:cNvSpPr/>
          <p:nvPr/>
        </p:nvSpPr>
        <p:spPr>
          <a:xfrm>
            <a:off x="5862297" y="4648200"/>
            <a:ext cx="347322" cy="0"/>
          </a:xfrm>
          <a:prstGeom prst="line">
            <a:avLst/>
          </a:prstGeom>
          <a:noFill/>
          <a:ln w="19050">
            <a:solidFill>
              <a:srgbClr val="858E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>
              <a:ea typeface="Lexend"/>
            </a:endParaRPr>
          </a:p>
        </p:txBody>
      </p:sp>
      <p:sp>
        <p:nvSpPr>
          <p:cNvPr id="26" name="Shape 22"/>
          <p:cNvSpPr/>
          <p:nvPr/>
        </p:nvSpPr>
        <p:spPr>
          <a:xfrm>
            <a:off x="5667375" y="4453278"/>
            <a:ext cx="389845" cy="389845"/>
          </a:xfrm>
          <a:prstGeom prst="ellipse">
            <a:avLst/>
          </a:prstGeom>
          <a:solidFill>
            <a:srgbClr val="FAFAFA"/>
          </a:solidFill>
          <a:ln w="12700">
            <a:solidFill>
              <a:srgbClr val="FAFA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ea typeface="Lexend"/>
            </a:endParaRPr>
          </a:p>
        </p:txBody>
      </p:sp>
      <p:sp>
        <p:nvSpPr>
          <p:cNvPr id="27" name="Shape 23"/>
          <p:cNvSpPr/>
          <p:nvPr/>
        </p:nvSpPr>
        <p:spPr>
          <a:xfrm>
            <a:off x="5724525" y="4510428"/>
            <a:ext cx="275545" cy="275545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rgbClr val="858E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ea typeface="Lexend"/>
            </a:endParaRPr>
          </a:p>
        </p:txBody>
      </p:sp>
      <p:sp>
        <p:nvSpPr>
          <p:cNvPr id="29" name="Text 25"/>
          <p:cNvSpPr/>
          <p:nvPr/>
        </p:nvSpPr>
        <p:spPr>
          <a:xfrm>
            <a:off x="6209620" y="4546187"/>
            <a:ext cx="515370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600" b="1" dirty="0">
                <a:solidFill>
                  <a:srgbClr val="0F172A"/>
                </a:solidFill>
                <a:latin typeface="Inter"/>
                <a:ea typeface="Lexend"/>
              </a:rPr>
              <a:t>Pipeline Hazards &amp; Resolutions (Code)</a:t>
            </a:r>
          </a:p>
        </p:txBody>
      </p:sp>
      <p:sp>
        <p:nvSpPr>
          <p:cNvPr id="31" name="Shape 27"/>
          <p:cNvSpPr/>
          <p:nvPr/>
        </p:nvSpPr>
        <p:spPr>
          <a:xfrm>
            <a:off x="5862297" y="5600700"/>
            <a:ext cx="347322" cy="0"/>
          </a:xfrm>
          <a:prstGeom prst="line">
            <a:avLst/>
          </a:prstGeom>
          <a:noFill/>
          <a:ln w="19050">
            <a:solidFill>
              <a:srgbClr val="858E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>
              <a:ea typeface="Lexend"/>
            </a:endParaRPr>
          </a:p>
        </p:txBody>
      </p:sp>
      <p:sp>
        <p:nvSpPr>
          <p:cNvPr id="32" name="Shape 28"/>
          <p:cNvSpPr/>
          <p:nvPr/>
        </p:nvSpPr>
        <p:spPr>
          <a:xfrm>
            <a:off x="5667375" y="5405778"/>
            <a:ext cx="389845" cy="389845"/>
          </a:xfrm>
          <a:prstGeom prst="ellipse">
            <a:avLst/>
          </a:prstGeom>
          <a:solidFill>
            <a:srgbClr val="FAFAFA"/>
          </a:solidFill>
          <a:ln w="12700">
            <a:solidFill>
              <a:srgbClr val="FAFA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ea typeface="Lexend"/>
            </a:endParaRPr>
          </a:p>
        </p:txBody>
      </p:sp>
      <p:sp>
        <p:nvSpPr>
          <p:cNvPr id="33" name="Shape 29"/>
          <p:cNvSpPr/>
          <p:nvPr/>
        </p:nvSpPr>
        <p:spPr>
          <a:xfrm>
            <a:off x="5724525" y="5462928"/>
            <a:ext cx="275545" cy="275545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rgbClr val="858E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ea typeface="Lexend"/>
            </a:endParaRPr>
          </a:p>
        </p:txBody>
      </p:sp>
      <p:sp>
        <p:nvSpPr>
          <p:cNvPr id="35" name="Text 31"/>
          <p:cNvSpPr/>
          <p:nvPr/>
        </p:nvSpPr>
        <p:spPr>
          <a:xfrm>
            <a:off x="6209620" y="5498687"/>
            <a:ext cx="515370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600" b="1" dirty="0">
                <a:solidFill>
                  <a:srgbClr val="0F172A"/>
                </a:solidFill>
                <a:latin typeface="Inter"/>
                <a:ea typeface="Lexend"/>
              </a:rPr>
              <a:t>Verification &amp; Waveform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54BF34A-5AAC-B2E5-3A55-F32347D9B5D8}"/>
              </a:ext>
            </a:extLst>
          </p:cNvPr>
          <p:cNvSpPr/>
          <p:nvPr/>
        </p:nvSpPr>
        <p:spPr>
          <a:xfrm>
            <a:off x="3014662" y="1167114"/>
            <a:ext cx="4524375" cy="4571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ea typeface="Lexend"/>
            </a:endParaRPr>
          </a:p>
        </p:txBody>
      </p:sp>
    </p:spTree>
    <p:extLst>
      <p:ext uri="{BB962C8B-B14F-4D97-AF65-F5344CB8AC3E}">
        <p14:creationId xmlns:p14="http://schemas.microsoft.com/office/powerpoint/2010/main" val="2608472998"/>
      </p:ext>
    </p:extLst>
  </p:cSld>
  <p:clrMapOvr>
    <a:masterClrMapping/>
  </p:clrMapOvr>
  <p:transition spd="med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-085768df-e795-4956-8543-e11ac8470514-0::roadmap-container">
            <a:extLst>
              <a:ext uri="{FF2B5EF4-FFF2-40B4-BE49-F238E27FC236}">
                <a16:creationId xmlns:a16="http://schemas.microsoft.com/office/drawing/2014/main" id="{E94934F2-DD27-0C78-2CDA-12DA032156B5}"/>
              </a:ext>
            </a:extLst>
          </p:cNvPr>
          <p:cNvSpPr/>
          <p:nvPr/>
        </p:nvSpPr>
        <p:spPr>
          <a:xfrm>
            <a:off x="364184" y="605396"/>
            <a:ext cx="11699590" cy="5499669"/>
          </a:xfrm>
          <a:prstGeom prst="roundRect">
            <a:avLst>
              <a:gd name="adj" fmla="val 3150"/>
            </a:avLst>
          </a:prstGeom>
          <a:solidFill>
            <a:srgbClr val="EDF2F9"/>
          </a:solidFill>
          <a:ln/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>
              <a:ea typeface="Lexend"/>
            </a:endParaRPr>
          </a:p>
        </p:txBody>
      </p:sp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121" y="716806"/>
            <a:ext cx="8653366" cy="5028148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9" name="TextBox 8"/>
          <p:cNvSpPr txBox="1"/>
          <p:nvPr/>
        </p:nvSpPr>
        <p:spPr>
          <a:xfrm>
            <a:off x="1029946" y="1562100"/>
            <a:ext cx="3652331" cy="838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3000" b="1" i="0" u="none" dirty="0">
                <a:solidFill>
                  <a:srgbClr val="0F172A"/>
                </a:solidFill>
                <a:latin typeface="+mj-lt"/>
                <a:ea typeface="Lexend"/>
              </a:rPr>
              <a:t>Datapath</a:t>
            </a:r>
            <a:r>
              <a:rPr dirty="0">
                <a:latin typeface="+mj-lt"/>
                <a:ea typeface="Lexend"/>
              </a:rPr>
              <a:t>
</a:t>
            </a:r>
            <a:r>
              <a:rPr sz="3000" b="1" i="0" u="none" dirty="0">
                <a:solidFill>
                  <a:srgbClr val="0F172A"/>
                </a:solidFill>
                <a:latin typeface="+mj-lt"/>
                <a:ea typeface="Lexend"/>
              </a:rPr>
              <a:t> Diagram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7828" y="2628900"/>
            <a:ext cx="271252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 dirty="0">
                <a:solidFill>
                  <a:srgbClr val="475569"/>
                </a:solidFill>
                <a:latin typeface="+mj-lt"/>
                <a:ea typeface="Lexend"/>
              </a:rPr>
              <a:t>Complete data path through 5 independent hardware stages.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390900"/>
            <a:ext cx="1887953" cy="339324"/>
          </a:xfrm>
          <a:prstGeom prst="rect">
            <a:avLst/>
          </a:prstGeom>
          <a:noFill/>
        </p:spPr>
        <p:txBody>
          <a:bodyPr wrap="none" lIns="28575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1500" b="1" i="0" u="none" dirty="0">
                <a:solidFill>
                  <a:srgbClr val="0F172A"/>
                </a:solidFill>
                <a:latin typeface="+mj-lt"/>
                <a:ea typeface="Lexend"/>
              </a:rPr>
              <a:t>IF:</a:t>
            </a:r>
            <a:r>
              <a:rPr sz="1500" b="0" i="0" u="none" dirty="0">
                <a:solidFill>
                  <a:srgbClr val="0F172A"/>
                </a:solidFill>
                <a:latin typeface="+mj-lt"/>
                <a:ea typeface="Lexend"/>
              </a:rPr>
              <a:t> Instruction Fetch.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771900"/>
            <a:ext cx="2089739" cy="339324"/>
          </a:xfrm>
          <a:prstGeom prst="rect">
            <a:avLst/>
          </a:prstGeom>
          <a:noFill/>
        </p:spPr>
        <p:txBody>
          <a:bodyPr wrap="none" lIns="28575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1500" b="1" i="0" u="none" dirty="0">
                <a:solidFill>
                  <a:srgbClr val="0F172A"/>
                </a:solidFill>
                <a:latin typeface="+mj-lt"/>
                <a:ea typeface="Lexend"/>
              </a:rPr>
              <a:t>ID:</a:t>
            </a:r>
            <a:r>
              <a:rPr sz="1500" b="0" i="0" u="none" dirty="0">
                <a:solidFill>
                  <a:srgbClr val="0F172A"/>
                </a:solidFill>
                <a:latin typeface="+mj-lt"/>
                <a:ea typeface="Lexend"/>
              </a:rPr>
              <a:t> Instruction Decode.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152900"/>
            <a:ext cx="1596591" cy="339324"/>
          </a:xfrm>
          <a:prstGeom prst="rect">
            <a:avLst/>
          </a:prstGeom>
          <a:noFill/>
        </p:spPr>
        <p:txBody>
          <a:bodyPr wrap="none" lIns="28575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1500" b="1" i="0" u="none" dirty="0">
                <a:solidFill>
                  <a:srgbClr val="0F172A"/>
                </a:solidFill>
                <a:latin typeface="+mj-lt"/>
                <a:ea typeface="Lexend"/>
              </a:rPr>
              <a:t>EX:</a:t>
            </a:r>
            <a:r>
              <a:rPr sz="1500" b="0" i="0" u="none" dirty="0">
                <a:solidFill>
                  <a:srgbClr val="0F172A"/>
                </a:solidFill>
                <a:latin typeface="+mj-lt"/>
                <a:ea typeface="Lexend"/>
              </a:rPr>
              <a:t> ALU Execute.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4533900"/>
            <a:ext cx="2099293" cy="339324"/>
          </a:xfrm>
          <a:prstGeom prst="rect">
            <a:avLst/>
          </a:prstGeom>
          <a:noFill/>
        </p:spPr>
        <p:txBody>
          <a:bodyPr wrap="none" lIns="28575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1500" b="1" i="0" u="none">
                <a:solidFill>
                  <a:srgbClr val="0F172A"/>
                </a:solidFill>
                <a:latin typeface="+mj-lt"/>
                <a:ea typeface="Lexend"/>
              </a:rPr>
              <a:t>MEM:</a:t>
            </a:r>
            <a:r>
              <a:rPr sz="1500" b="0" i="0" u="none">
                <a:solidFill>
                  <a:srgbClr val="0F172A"/>
                </a:solidFill>
                <a:latin typeface="+mj-lt"/>
                <a:ea typeface="Lexend"/>
              </a:rPr>
              <a:t> Memory Access.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4914900"/>
            <a:ext cx="2246512" cy="339324"/>
          </a:xfrm>
          <a:prstGeom prst="rect">
            <a:avLst/>
          </a:prstGeom>
          <a:noFill/>
        </p:spPr>
        <p:txBody>
          <a:bodyPr wrap="none" lIns="28575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1500" b="1" i="0" u="none">
                <a:solidFill>
                  <a:srgbClr val="0F172A"/>
                </a:solidFill>
                <a:latin typeface="+mj-lt"/>
                <a:ea typeface="Lexend"/>
              </a:rPr>
              <a:t>WB:</a:t>
            </a:r>
            <a:r>
              <a:rPr sz="1500" b="0" i="0" u="none">
                <a:solidFill>
                  <a:srgbClr val="0F172A"/>
                </a:solidFill>
                <a:latin typeface="+mj-lt"/>
                <a:ea typeface="Lexend"/>
              </a:rPr>
              <a:t> Register Write-back.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DAB861D-234C-A078-C83C-D90CC9A6CA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0349" y="871102"/>
            <a:ext cx="8327467" cy="472250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669" y="609600"/>
            <a:ext cx="11340662" cy="5638800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1792" y="4377558"/>
            <a:ext cx="171450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1792" y="5139558"/>
            <a:ext cx="190500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1792" y="5901558"/>
            <a:ext cx="219075" cy="2000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7643" y="4436154"/>
            <a:ext cx="4228497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 dirty="0">
                <a:solidFill>
                  <a:srgbClr val="0F172A"/>
                </a:solidFill>
                <a:latin typeface="+mj-lt"/>
                <a:ea typeface="Lexend"/>
              </a:rPr>
              <a:t>RTL Schematic Optimization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643" y="5579154"/>
            <a:ext cx="40271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+mj-lt"/>
                <a:ea typeface="Lexend"/>
              </a:rPr>
              <a:t>Organizing the spider-web schematic into hierarchical blocks.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64844" y="4273507"/>
            <a:ext cx="4027140" cy="339324"/>
          </a:xfrm>
          <a:prstGeom prst="rect">
            <a:avLst/>
          </a:prstGeom>
          <a:noFill/>
        </p:spPr>
        <p:txBody>
          <a:bodyPr wrap="square" lIns="28575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1500" b="1" i="0" u="none" dirty="0">
                <a:solidFill>
                  <a:srgbClr val="0F172A"/>
                </a:solidFill>
                <a:latin typeface="+mj-lt"/>
                <a:ea typeface="Lexend"/>
              </a:rPr>
              <a:t>Modularization:</a:t>
            </a:r>
            <a:r>
              <a:rPr sz="1500" b="0" i="0" u="none" dirty="0">
                <a:solidFill>
                  <a:srgbClr val="0F172A"/>
                </a:solidFill>
                <a:latin typeface="+mj-lt"/>
                <a:ea typeface="Lexend"/>
              </a:rPr>
              <a:t> Packaged into 7 core modules.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32656" y="5032155"/>
            <a:ext cx="4027140" cy="339324"/>
          </a:xfrm>
          <a:prstGeom prst="rect">
            <a:avLst/>
          </a:prstGeom>
          <a:noFill/>
        </p:spPr>
        <p:txBody>
          <a:bodyPr wrap="square" lIns="30480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1500" b="1" i="0" u="none" dirty="0">
                <a:solidFill>
                  <a:srgbClr val="0F172A"/>
                </a:solidFill>
                <a:latin typeface="+mj-lt"/>
                <a:ea typeface="Lexend"/>
              </a:rPr>
              <a:t>Keep Hierarchy:</a:t>
            </a:r>
            <a:r>
              <a:rPr sz="1500" b="0" i="0" u="none" dirty="0">
                <a:solidFill>
                  <a:srgbClr val="0F172A"/>
                </a:solidFill>
                <a:latin typeface="+mj-lt"/>
                <a:ea typeface="Lexend"/>
              </a:rPr>
              <a:t> Preserved block structures.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468" y="5790803"/>
            <a:ext cx="4027140" cy="339324"/>
          </a:xfrm>
          <a:prstGeom prst="rect">
            <a:avLst/>
          </a:prstGeom>
          <a:noFill/>
        </p:spPr>
        <p:txBody>
          <a:bodyPr wrap="square" lIns="333375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1500" b="1" i="0" u="none" dirty="0">
                <a:solidFill>
                  <a:srgbClr val="0F172A"/>
                </a:solidFill>
                <a:latin typeface="+mj-lt"/>
                <a:ea typeface="Lexend"/>
              </a:rPr>
              <a:t>Clear Schematic:</a:t>
            </a:r>
            <a:r>
              <a:rPr sz="1500" b="0" i="0" u="none" dirty="0">
                <a:solidFill>
                  <a:srgbClr val="0F172A"/>
                </a:solidFill>
                <a:latin typeface="+mj-lt"/>
                <a:ea typeface="Lexend"/>
              </a:rPr>
              <a:t> 100% match with theory.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F5E5F3A-3050-2A1C-0C2F-81998F99492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7066" b="20091"/>
          <a:stretch>
            <a:fillRect/>
          </a:stretch>
        </p:blipFill>
        <p:spPr>
          <a:xfrm>
            <a:off x="449925" y="1353667"/>
            <a:ext cx="11292149" cy="2465268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chart: Alternate Process 1"/>
          <p:cNvSpPr/>
          <p:nvPr/>
        </p:nvSpPr>
        <p:spPr>
          <a:xfrm>
            <a:off x="609600" y="2905125"/>
            <a:ext cx="3454449" cy="2724150"/>
          </a:xfrm>
          <a:prstGeom prst="flowChartAlternateProcess">
            <a:avLst/>
          </a:prstGeom>
          <a:solidFill>
            <a:srgbClr val="EDF2F9"/>
          </a:solidFill>
          <a:ln w="19050">
            <a:solidFill>
              <a:srgbClr val="E2E8F0"/>
            </a:solidFill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  <a:ea typeface="Lexend"/>
            </a:endParaRPr>
          </a:p>
        </p:txBody>
      </p:sp>
      <p:sp>
        <p:nvSpPr>
          <p:cNvPr id="3" name="Flowchart: Alternate Process 2"/>
          <p:cNvSpPr/>
          <p:nvPr/>
        </p:nvSpPr>
        <p:spPr>
          <a:xfrm>
            <a:off x="4368849" y="2905125"/>
            <a:ext cx="3454449" cy="2724150"/>
          </a:xfrm>
          <a:prstGeom prst="flowChartAlternateProcess">
            <a:avLst/>
          </a:prstGeom>
          <a:solidFill>
            <a:srgbClr val="EDF2F9"/>
          </a:solidFill>
          <a:ln w="19050">
            <a:solidFill>
              <a:srgbClr val="E2E8F0"/>
            </a:solidFill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  <a:ea typeface="Lexend"/>
            </a:endParaRPr>
          </a:p>
        </p:txBody>
      </p:sp>
      <p:sp>
        <p:nvSpPr>
          <p:cNvPr id="4" name="Flowchart: Alternate Process 3"/>
          <p:cNvSpPr/>
          <p:nvPr/>
        </p:nvSpPr>
        <p:spPr>
          <a:xfrm>
            <a:off x="8128099" y="2905125"/>
            <a:ext cx="3454449" cy="2724150"/>
          </a:xfrm>
          <a:prstGeom prst="flowChartAlternateProcess">
            <a:avLst/>
          </a:prstGeom>
          <a:solidFill>
            <a:srgbClr val="EDF2F9"/>
          </a:solidFill>
          <a:ln w="19050">
            <a:solidFill>
              <a:srgbClr val="E2E8F0"/>
            </a:solidFill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  <a:ea typeface="Lexend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" y="3228975"/>
            <a:ext cx="2806749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2699" y="3228975"/>
            <a:ext cx="2806749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1949" y="3228975"/>
            <a:ext cx="2806749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22318" y="1228725"/>
            <a:ext cx="3947363" cy="5539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 dirty="0">
                <a:solidFill>
                  <a:srgbClr val="0F172A"/>
                </a:solidFill>
                <a:latin typeface="+mj-lt"/>
                <a:ea typeface="Lexend"/>
              </a:rPr>
              <a:t>Hazard Classification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3304" y="2019300"/>
            <a:ext cx="4705391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0" i="0" u="none" dirty="0">
                <a:solidFill>
                  <a:srgbClr val="475569"/>
                </a:solidFill>
                <a:latin typeface="+mj-lt"/>
                <a:ea typeface="Lexend"/>
              </a:rPr>
              <a:t>Pipeline conflicts requiring hardware intervention.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3450" y="3914775"/>
            <a:ext cx="1361976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 dirty="0">
                <a:solidFill>
                  <a:srgbClr val="0F172A"/>
                </a:solidFill>
                <a:latin typeface="+mj-lt"/>
                <a:ea typeface="Lexend"/>
              </a:rPr>
              <a:t>Data Hazard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450" y="4391025"/>
            <a:ext cx="2901999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 dirty="0">
                <a:solidFill>
                  <a:srgbClr val="475569"/>
                </a:solidFill>
                <a:latin typeface="+mj-lt"/>
                <a:ea typeface="Lexend"/>
              </a:rPr>
              <a:t>Register data not yet written back.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50" y="5076825"/>
            <a:ext cx="2256580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563EB"/>
                </a:solidFill>
                <a:latin typeface="+mj-lt"/>
                <a:ea typeface="Lexend"/>
              </a:rPr>
              <a:t>Resolution: Forwarding Mux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2699" y="3914775"/>
            <a:ext cx="1037143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+mj-lt"/>
                <a:ea typeface="Lexend"/>
              </a:rPr>
              <a:t>Load-Use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2699" y="4391025"/>
            <a:ext cx="2901999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+mj-lt"/>
                <a:ea typeface="Lexend"/>
              </a:rPr>
              <a:t>Memory read delay stalls pipeline.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2699" y="5076825"/>
            <a:ext cx="1908471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563EB"/>
                </a:solidFill>
                <a:latin typeface="+mj-lt"/>
                <a:ea typeface="Lexend"/>
              </a:rPr>
              <a:t>Resolution: 1-Cycle Stall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1949" y="3914775"/>
            <a:ext cx="1662699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+mj-lt"/>
                <a:ea typeface="Lexend"/>
              </a:rPr>
              <a:t>Control Hazard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1949" y="4391025"/>
            <a:ext cx="2901999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+mj-lt"/>
                <a:ea typeface="Lexend"/>
              </a:rPr>
              <a:t>Taken branch invalidates fetch.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1949" y="5076825"/>
            <a:ext cx="1961434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563EB"/>
                </a:solidFill>
                <a:latin typeface="+mj-lt"/>
                <a:ea typeface="Lexend"/>
              </a:rPr>
              <a:t>Resolution: Branch Flush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-085768df-e795-4956-8543-e11ac8470514-0::roadmap-container">
            <a:extLst>
              <a:ext uri="{FF2B5EF4-FFF2-40B4-BE49-F238E27FC236}">
                <a16:creationId xmlns:a16="http://schemas.microsoft.com/office/drawing/2014/main" id="{CA224D9E-3830-E1F1-FA72-425A5D50C429}"/>
              </a:ext>
            </a:extLst>
          </p:cNvPr>
          <p:cNvSpPr/>
          <p:nvPr/>
        </p:nvSpPr>
        <p:spPr>
          <a:xfrm>
            <a:off x="417867" y="783769"/>
            <a:ext cx="11368433" cy="5070190"/>
          </a:xfrm>
          <a:prstGeom prst="roundRect">
            <a:avLst>
              <a:gd name="adj" fmla="val 3150"/>
            </a:avLst>
          </a:prstGeom>
          <a:solidFill>
            <a:srgbClr val="EDF2F9"/>
          </a:solidFill>
          <a:ln/>
          <a:effectLst>
            <a:innerShdw blurRad="114300">
              <a:prstClr val="black"/>
            </a:inn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>
              <a:ea typeface="Lexen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00364" y="1273912"/>
            <a:ext cx="3209213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 dirty="0">
                <a:solidFill>
                  <a:srgbClr val="0F172A"/>
                </a:solidFill>
                <a:latin typeface="+mj-lt"/>
              </a:rPr>
              <a:t>Data Forwarding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0364" y="2434536"/>
            <a:ext cx="3836709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0" i="0" u="none" dirty="0">
                <a:solidFill>
                  <a:srgbClr val="475569"/>
                </a:solidFill>
                <a:latin typeface="+mj-lt"/>
              </a:rPr>
              <a:t>Routing fresh ALU results backward to bypass outdated register reads.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364" y="3028631"/>
            <a:ext cx="2021387" cy="4501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sz="1650" b="1" i="0" u="none" dirty="0">
                <a:solidFill>
                  <a:srgbClr val="0F172A"/>
                </a:solidFill>
                <a:latin typeface="+mj-lt"/>
              </a:rPr>
              <a:t>Check </a:t>
            </a:r>
            <a:r>
              <a:rPr sz="1650" b="1" i="0" u="none" dirty="0" err="1">
                <a:solidFill>
                  <a:srgbClr val="0F172A"/>
                </a:solidFill>
                <a:latin typeface="+mj-lt"/>
              </a:rPr>
              <a:t>uses_a</a:t>
            </a:r>
            <a:r>
              <a:rPr sz="1650" b="1" i="0" u="none" dirty="0">
                <a:solidFill>
                  <a:srgbClr val="0F172A"/>
                </a:solidFill>
                <a:latin typeface="+mj-lt"/>
              </a:rPr>
              <a:t> / </a:t>
            </a:r>
            <a:r>
              <a:rPr sz="1650" b="1" i="0" u="none" dirty="0" err="1">
                <a:solidFill>
                  <a:srgbClr val="0F172A"/>
                </a:solidFill>
                <a:latin typeface="+mj-lt"/>
              </a:rPr>
              <a:t>uses_b</a:t>
            </a:r>
            <a:r>
              <a:rPr sz="1650" b="1" i="0" u="none" dirty="0">
                <a:solidFill>
                  <a:srgbClr val="0F172A"/>
                </a:solidFill>
                <a:latin typeface="+mj-lt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364" y="3552506"/>
            <a:ext cx="2753190" cy="4501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sz="1650" b="1" i="0" u="none" dirty="0">
                <a:solidFill>
                  <a:srgbClr val="0F172A"/>
                </a:solidFill>
                <a:latin typeface="+mj-lt"/>
              </a:rPr>
              <a:t>Compare source vs destination.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364" y="4076381"/>
            <a:ext cx="2264787" cy="4501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sz="1650" b="1" i="0" u="none" dirty="0">
                <a:solidFill>
                  <a:srgbClr val="0F172A"/>
                </a:solidFill>
                <a:latin typeface="+mj-lt"/>
              </a:rPr>
              <a:t>Priority 1: EX/MEM stage.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364" y="4600256"/>
            <a:ext cx="2356158" cy="4501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sz="1650" b="1" i="0" u="none" dirty="0">
                <a:solidFill>
                  <a:srgbClr val="0F172A"/>
                </a:solidFill>
                <a:latin typeface="+mj-lt"/>
              </a:rPr>
              <a:t>Priority 2: MEM/WB stage.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B7462163-114F-F07A-87E2-129C1EF17BD1}"/>
              </a:ext>
            </a:extLst>
          </p:cNvPr>
          <p:cNvSpPr/>
          <p:nvPr/>
        </p:nvSpPr>
        <p:spPr>
          <a:xfrm>
            <a:off x="4991214" y="1029711"/>
            <a:ext cx="6352561" cy="4302713"/>
          </a:xfrm>
          <a:prstGeom prst="flowChartAlternate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879477B-FC50-5C86-5FB2-2DEE462F33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1214" y="1029711"/>
            <a:ext cx="6352561" cy="4302713"/>
          </a:xfrm>
          <a:prstGeom prst="flowChartAlternateProcess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-085768df-e795-4956-8543-e11ac8470514-0::roadmap-container">
            <a:extLst>
              <a:ext uri="{FF2B5EF4-FFF2-40B4-BE49-F238E27FC236}">
                <a16:creationId xmlns:a16="http://schemas.microsoft.com/office/drawing/2014/main" id="{6077160A-B980-28FD-D3BA-F50E5640B256}"/>
              </a:ext>
            </a:extLst>
          </p:cNvPr>
          <p:cNvSpPr/>
          <p:nvPr/>
        </p:nvSpPr>
        <p:spPr>
          <a:xfrm>
            <a:off x="352515" y="1425511"/>
            <a:ext cx="11559910" cy="4327139"/>
          </a:xfrm>
          <a:prstGeom prst="roundRect">
            <a:avLst>
              <a:gd name="adj" fmla="val 3150"/>
            </a:avLst>
          </a:prstGeom>
          <a:solidFill>
            <a:srgbClr val="EDF2F9"/>
          </a:solidFill>
          <a:ln/>
          <a:effectLst>
            <a:innerShdw blurRad="114300">
              <a:prstClr val="black"/>
            </a:inn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>
              <a:ea typeface="Lexen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311848" y="1809348"/>
            <a:ext cx="5301323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>
                <a:solidFill>
                  <a:srgbClr val="0F172A"/>
                </a:solidFill>
                <a:latin typeface="+mj-lt"/>
              </a:rPr>
              <a:t>Load-Use Stall</a:t>
            </a:r>
            <a:r>
              <a:rPr lang="en-US" sz="3000" b="1" i="0" u="none" dirty="0">
                <a:solidFill>
                  <a:srgbClr val="0F172A"/>
                </a:solidFill>
                <a:latin typeface="+mj-lt"/>
              </a:rPr>
              <a:t> &amp; Resolution</a:t>
            </a:r>
            <a:r>
              <a:rPr sz="3000" b="1" i="0" u="none" dirty="0">
                <a:solidFill>
                  <a:srgbClr val="0F172A"/>
                </a:solidFill>
                <a:latin typeface="+mj-lt"/>
              </a:rPr>
              <a:t>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11848" y="2433497"/>
            <a:ext cx="5527637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dirty="0">
                <a:latin typeface="+mj-lt"/>
              </a:rPr>
              <a:t>Handling memory delay through 1-cycle stalling and data forwarding.</a:t>
            </a:r>
            <a:endParaRPr sz="1800" b="0" i="0" u="none" dirty="0">
              <a:solidFill>
                <a:srgbClr val="475569"/>
              </a:solidFill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311848" y="3061182"/>
            <a:ext cx="2489336" cy="4501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sz="1650" b="1" i="0" u="none" dirty="0">
                <a:solidFill>
                  <a:srgbClr val="0F172A"/>
                </a:solidFill>
                <a:latin typeface="+mj-lt"/>
              </a:rPr>
              <a:t>Identify LD instruction in EX.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11848" y="3585057"/>
            <a:ext cx="2662332" cy="4501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sz="1650" b="1" i="0" u="none" dirty="0">
                <a:solidFill>
                  <a:srgbClr val="0F172A"/>
                </a:solidFill>
                <a:latin typeface="+mj-lt"/>
              </a:rPr>
              <a:t>Check dependency in ID stage.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11848" y="4108932"/>
            <a:ext cx="2547300" cy="4501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sz="1650" b="1" i="0" u="none" dirty="0">
                <a:solidFill>
                  <a:srgbClr val="0F172A"/>
                </a:solidFill>
                <a:latin typeface="+mj-lt"/>
              </a:rPr>
              <a:t>Freeze PC and IF/ID registers.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1848" y="4632807"/>
            <a:ext cx="2596032" cy="4501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sz="1650" b="1" i="0" u="none" dirty="0">
                <a:solidFill>
                  <a:srgbClr val="0F172A"/>
                </a:solidFill>
                <a:latin typeface="+mj-lt"/>
              </a:rPr>
              <a:t>Inject NOP bubble into ID/EX.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C000EFC-BF0E-D0B2-021C-885684F68FB6}"/>
              </a:ext>
            </a:extLst>
          </p:cNvPr>
          <p:cNvSpPr/>
          <p:nvPr/>
        </p:nvSpPr>
        <p:spPr>
          <a:xfrm>
            <a:off x="693795" y="1838324"/>
            <a:ext cx="5318804" cy="96047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DC2065C-FD7C-52C9-C2E1-6CFCEDB33AEE}"/>
              </a:ext>
            </a:extLst>
          </p:cNvPr>
          <p:cNvSpPr/>
          <p:nvPr/>
        </p:nvSpPr>
        <p:spPr>
          <a:xfrm>
            <a:off x="693797" y="3292905"/>
            <a:ext cx="4358482" cy="2274952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5FF3419-7B20-EA16-C68C-60C09F5ADB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28"/>
          <a:stretch>
            <a:fillRect/>
          </a:stretch>
        </p:blipFill>
        <p:spPr>
          <a:xfrm>
            <a:off x="693794" y="1838324"/>
            <a:ext cx="5318803" cy="960470"/>
          </a:xfrm>
          <a:prstGeom prst="flowChartAlternateProcess">
            <a:avLst/>
          </a:prstGeom>
          <a:effectLst/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BD81DEB-48C0-82DF-490F-CFDBADC847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794" y="3292905"/>
            <a:ext cx="4358483" cy="2274952"/>
          </a:xfrm>
          <a:prstGeom prst="flowChartAlternateProcess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14EAAEFE-2AA9-1C7E-6F9E-5A1F68F1AC3F}"/>
              </a:ext>
            </a:extLst>
          </p:cNvPr>
          <p:cNvSpPr txBox="1"/>
          <p:nvPr/>
        </p:nvSpPr>
        <p:spPr>
          <a:xfrm>
            <a:off x="693794" y="1440016"/>
            <a:ext cx="25286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+mj-lt"/>
              </a:rPr>
              <a:t>Load-Use Stall Condition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0525A9E-EEBD-F7AE-012F-C79E197922FA}"/>
              </a:ext>
            </a:extLst>
          </p:cNvPr>
          <p:cNvSpPr txBox="1"/>
          <p:nvPr/>
        </p:nvSpPr>
        <p:spPr>
          <a:xfrm>
            <a:off x="693797" y="2916944"/>
            <a:ext cx="30485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+mj-lt"/>
              </a:rPr>
              <a:t>ALU Operand Forwarding Mux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-085768df-e795-4956-8543-e11ac8470514-0::roadmap-container">
            <a:extLst>
              <a:ext uri="{FF2B5EF4-FFF2-40B4-BE49-F238E27FC236}">
                <a16:creationId xmlns:a16="http://schemas.microsoft.com/office/drawing/2014/main" id="{FD45860C-33BA-3255-8CA6-3EA1A6B740DB}"/>
              </a:ext>
            </a:extLst>
          </p:cNvPr>
          <p:cNvSpPr/>
          <p:nvPr/>
        </p:nvSpPr>
        <p:spPr>
          <a:xfrm>
            <a:off x="352515" y="1425511"/>
            <a:ext cx="11559910" cy="4327139"/>
          </a:xfrm>
          <a:prstGeom prst="roundRect">
            <a:avLst>
              <a:gd name="adj" fmla="val 3150"/>
            </a:avLst>
          </a:prstGeom>
          <a:solidFill>
            <a:srgbClr val="EDF2F9"/>
          </a:solidFill>
          <a:ln/>
          <a:effectLst>
            <a:innerShdw blurRad="114300">
              <a:prstClr val="black"/>
            </a:inn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>
              <a:ea typeface="Lexend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6AFB94E-A7B6-80A1-776A-F1442548C174}"/>
              </a:ext>
            </a:extLst>
          </p:cNvPr>
          <p:cNvSpPr/>
          <p:nvPr/>
        </p:nvSpPr>
        <p:spPr>
          <a:xfrm>
            <a:off x="5692238" y="1532067"/>
            <a:ext cx="6049919" cy="4131884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600" y="1604962"/>
            <a:ext cx="3675622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>
                <a:solidFill>
                  <a:srgbClr val="0F172A"/>
                </a:solidFill>
                <a:latin typeface="+mj-lt"/>
              </a:rPr>
              <a:t>Branch Flush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300287"/>
            <a:ext cx="465772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475569"/>
                </a:solidFill>
                <a:latin typeface="+mj-lt"/>
              </a:rPr>
              <a:t>Discarding wrong-path instructions upon branch resolution.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157537"/>
            <a:ext cx="2963696" cy="4501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sz="1650" b="1" i="0" u="none" dirty="0">
                <a:solidFill>
                  <a:srgbClr val="0F172A"/>
                </a:solidFill>
                <a:latin typeface="+mj-lt"/>
              </a:rPr>
              <a:t>Branch condition calculated in 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681412"/>
            <a:ext cx="2402004" cy="4501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sz="1650" b="1" i="0" u="none" dirty="0">
                <a:solidFill>
                  <a:srgbClr val="0F172A"/>
                </a:solidFill>
                <a:latin typeface="+mj-lt"/>
              </a:rPr>
              <a:t>PC jumps to target address.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205287"/>
            <a:ext cx="2668551" cy="4501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sz="1650" b="1" i="0" u="none" dirty="0">
                <a:solidFill>
                  <a:srgbClr val="0F172A"/>
                </a:solidFill>
                <a:latin typeface="+mj-lt"/>
              </a:rPr>
              <a:t>IF/ID buffer cleared (valid = 0).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729162"/>
            <a:ext cx="2739981" cy="4501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sz="1650" b="1" i="0" u="none" dirty="0">
                <a:solidFill>
                  <a:srgbClr val="0F172A"/>
                </a:solidFill>
                <a:latin typeface="+mj-lt"/>
              </a:rPr>
              <a:t>ID/EX buffer cleared (valid = 0).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6B9C126-F134-1F4D-21C2-3044D8E6E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2237" y="1532067"/>
            <a:ext cx="6049919" cy="4131884"/>
          </a:xfrm>
          <a:prstGeom prst="flowChartAlternateProcess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-085768df-e795-4956-8543-e11ac8470514-0::roadmap-container">
            <a:extLst>
              <a:ext uri="{FF2B5EF4-FFF2-40B4-BE49-F238E27FC236}">
                <a16:creationId xmlns:a16="http://schemas.microsoft.com/office/drawing/2014/main" id="{34C64849-15FD-358D-10C5-A516846424E6}"/>
              </a:ext>
            </a:extLst>
          </p:cNvPr>
          <p:cNvSpPr/>
          <p:nvPr/>
        </p:nvSpPr>
        <p:spPr>
          <a:xfrm>
            <a:off x="316045" y="649887"/>
            <a:ext cx="11559910" cy="5589927"/>
          </a:xfrm>
          <a:prstGeom prst="roundRect">
            <a:avLst>
              <a:gd name="adj" fmla="val 3150"/>
            </a:avLst>
          </a:prstGeom>
          <a:solidFill>
            <a:srgbClr val="EDF2F9"/>
          </a:solidFill>
          <a:ln/>
          <a:effectLst>
            <a:innerShdw blurRad="114300">
              <a:prstClr val="black"/>
            </a:inn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>
              <a:ea typeface="Lexend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3DBE724-AE47-236D-780D-09E8E745CD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8947"/>
          <a:stretch>
            <a:fillRect/>
          </a:stretch>
        </p:blipFill>
        <p:spPr>
          <a:xfrm>
            <a:off x="994289" y="1359301"/>
            <a:ext cx="2043362" cy="4171097"/>
          </a:xfrm>
          <a:prstGeom prst="flowChartAlternateProcess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/>
          <p:cNvSpPr txBox="1"/>
          <p:nvPr/>
        </p:nvSpPr>
        <p:spPr>
          <a:xfrm>
            <a:off x="3037651" y="953043"/>
            <a:ext cx="8722516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n-US" sz="3200" b="1" dirty="0"/>
              <a:t>Testbench &amp; Self-Checking Verification Architecture</a:t>
            </a:r>
            <a:endParaRPr sz="3000" b="1" i="0" u="none" dirty="0">
              <a:solidFill>
                <a:srgbClr val="0F172A"/>
              </a:solidFill>
              <a:latin typeface="+mj-l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5611B65-3609-ACA8-DD89-25C79F286FFA}"/>
              </a:ext>
            </a:extLst>
          </p:cNvPr>
          <p:cNvSpPr txBox="1"/>
          <p:nvPr/>
        </p:nvSpPr>
        <p:spPr>
          <a:xfrm>
            <a:off x="556010" y="5628555"/>
            <a:ext cx="60949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Initialization &amp; DUT Instantiation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E4122D9-337B-7593-69A6-5BF450D283E2}"/>
              </a:ext>
            </a:extLst>
          </p:cNvPr>
          <p:cNvSpPr txBox="1"/>
          <p:nvPr/>
        </p:nvSpPr>
        <p:spPr>
          <a:xfrm>
            <a:off x="6347745" y="5628555"/>
            <a:ext cx="28992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Monitoring &amp; Self-Checking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7A0AC26-6EF1-695F-0352-B0C12B4A53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3773" y="2444976"/>
            <a:ext cx="7227222" cy="3085422"/>
          </a:xfrm>
          <a:prstGeom prst="flowChartAlternateProcess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46115771-104A-BF55-7341-2E7409D2A762}"/>
              </a:ext>
            </a:extLst>
          </p:cNvPr>
          <p:cNvSpPr txBox="1"/>
          <p:nvPr/>
        </p:nvSpPr>
        <p:spPr>
          <a:xfrm>
            <a:off x="4454229" y="1482088"/>
            <a:ext cx="64442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Automated stimulus generation, clocking, and regression checking.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-085768df-e795-4956-8543-e11ac8470514-0::roadmap-container">
            <a:extLst>
              <a:ext uri="{FF2B5EF4-FFF2-40B4-BE49-F238E27FC236}">
                <a16:creationId xmlns:a16="http://schemas.microsoft.com/office/drawing/2014/main" id="{DA71A916-72AA-EB9F-C15B-0B911F32E643}"/>
              </a:ext>
            </a:extLst>
          </p:cNvPr>
          <p:cNvSpPr/>
          <p:nvPr/>
        </p:nvSpPr>
        <p:spPr>
          <a:xfrm>
            <a:off x="169349" y="362852"/>
            <a:ext cx="11790482" cy="6107316"/>
          </a:xfrm>
          <a:prstGeom prst="roundRect">
            <a:avLst>
              <a:gd name="adj" fmla="val 3150"/>
            </a:avLst>
          </a:prstGeom>
          <a:solidFill>
            <a:srgbClr val="EDF2F9"/>
          </a:solidFill>
          <a:ln/>
          <a:effectLst>
            <a:innerShdw blurRad="114300">
              <a:prstClr val="black"/>
            </a:inn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>
              <a:ea typeface="Lexend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B482F43-FF01-9954-46D0-2D3F835B21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9724" b="73716"/>
          <a:stretch>
            <a:fillRect/>
          </a:stretch>
        </p:blipFill>
        <p:spPr>
          <a:xfrm>
            <a:off x="1218072" y="4849473"/>
            <a:ext cx="9543239" cy="1490086"/>
          </a:xfrm>
          <a:prstGeom prst="rect">
            <a:avLst/>
          </a:prstGeom>
          <a:effectLst>
            <a:innerShdw blurRad="63500" dist="50800" dir="5400000">
              <a:prstClr val="black">
                <a:alpha val="50000"/>
              </a:prstClr>
            </a:innerShdw>
          </a:effectLst>
        </p:spPr>
      </p:pic>
      <p:sp>
        <p:nvSpPr>
          <p:cNvPr id="2" name="Rounded Rectangle 1"/>
          <p:cNvSpPr/>
          <p:nvPr/>
        </p:nvSpPr>
        <p:spPr>
          <a:xfrm>
            <a:off x="543757" y="3971925"/>
            <a:ext cx="3505200" cy="952500"/>
          </a:xfrm>
          <a:prstGeom prst="roundRect">
            <a:avLst>
              <a:gd name="adj" fmla="val 12000"/>
            </a:avLst>
          </a:prstGeom>
          <a:solidFill>
            <a:srgbClr val="F8F8F8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237092" y="3971925"/>
            <a:ext cx="3505200" cy="952500"/>
          </a:xfrm>
          <a:prstGeom prst="roundRect">
            <a:avLst>
              <a:gd name="adj" fmla="val 12000"/>
            </a:avLst>
          </a:prstGeom>
          <a:solidFill>
            <a:srgbClr val="F8F8F8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970892" y="3971925"/>
            <a:ext cx="3505200" cy="952500"/>
          </a:xfrm>
          <a:prstGeom prst="roundRect">
            <a:avLst>
              <a:gd name="adj" fmla="val 12000"/>
            </a:avLst>
          </a:prstGeom>
          <a:solidFill>
            <a:srgbClr val="F8F8F8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18573" y="1057275"/>
            <a:ext cx="11261462" cy="2797945"/>
          </a:xfrm>
          <a:prstGeom prst="flowChartAlternateProcess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7" name="TextBox 6"/>
          <p:cNvSpPr txBox="1"/>
          <p:nvPr/>
        </p:nvSpPr>
        <p:spPr>
          <a:xfrm>
            <a:off x="505657" y="457200"/>
            <a:ext cx="3821624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>
                <a:solidFill>
                  <a:srgbClr val="0F172A"/>
                </a:solidFill>
                <a:latin typeface="+mj-lt"/>
              </a:rPr>
              <a:t>Simulation &amp; Waveform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357" y="4200525"/>
            <a:ext cx="1109278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B82F6"/>
                </a:solidFill>
                <a:latin typeface="+mj-lt"/>
              </a:rPr>
              <a:t>Pipeline Filled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357" y="4505325"/>
            <a:ext cx="2289088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+mj-lt"/>
              </a:rPr>
              <a:t>Continuous completion after cycle 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65692" y="4200525"/>
            <a:ext cx="1260538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3B82F6"/>
                </a:solidFill>
                <a:latin typeface="+mj-lt"/>
              </a:rPr>
              <a:t>PC Branch Flush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5692" y="4505325"/>
            <a:ext cx="2196627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+mj-lt"/>
              </a:rPr>
              <a:t>PC steps back correctly during BNZ.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9492" y="4200525"/>
            <a:ext cx="1323696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B82F6"/>
                </a:solidFill>
                <a:latin typeface="+mj-lt"/>
              </a:rPr>
              <a:t>Zero Logic Errors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9492" y="4505325"/>
            <a:ext cx="186884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+mj-lt"/>
              </a:rPr>
              <a:t>Error counter remains at zero.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EA8A298-5116-20F4-AE9E-FC75438324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573" y="1048840"/>
            <a:ext cx="11261462" cy="2797945"/>
          </a:xfrm>
          <a:prstGeom prst="flowChartAlternateProcess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354</Words>
  <Application>Microsoft Office PowerPoint</Application>
  <PresentationFormat>Widescreen</PresentationFormat>
  <Paragraphs>70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Inter</vt:lpstr>
      <vt:lpstr>Aptos</vt:lpstr>
      <vt:lpstr>Lexend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Long Hoang</cp:lastModifiedBy>
  <cp:revision>2</cp:revision>
  <dcterms:created xsi:type="dcterms:W3CDTF">2013-01-27T09:14:16Z</dcterms:created>
  <dcterms:modified xsi:type="dcterms:W3CDTF">2026-10-22T10:07:48Z</dcterms:modified>
  <cp:category/>
</cp:coreProperties>
</file>